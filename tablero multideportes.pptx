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2" r:id="rId3"/>
    <p:sldId id="266" r:id="rId4"/>
    <p:sldId id="267" r:id="rId5"/>
    <p:sldId id="268" r:id="rId6"/>
    <p:sldId id="257" r:id="rId7"/>
    <p:sldId id="264" r:id="rId8"/>
    <p:sldId id="258" r:id="rId9"/>
    <p:sldId id="270" r:id="rId10"/>
    <p:sldId id="269" r:id="rId11"/>
    <p:sldId id="271" r:id="rId12"/>
    <p:sldId id="265" r:id="rId13"/>
    <p:sldId id="261" r:id="rId14"/>
    <p:sldId id="260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7C18C0-2773-4743-27E2-C8EE9756C7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839787"/>
          </a:xfrm>
        </p:spPr>
        <p:txBody>
          <a:bodyPr/>
          <a:lstStyle/>
          <a:p>
            <a:r>
              <a:rPr lang="es-AR" dirty="0"/>
              <a:t>tablero </a:t>
            </a:r>
            <a:r>
              <a:rPr lang="es-AR" dirty="0" err="1"/>
              <a:t>multideportes</a:t>
            </a:r>
            <a:endParaRPr lang="es-AR" dirty="0"/>
          </a:p>
        </p:txBody>
      </p:sp>
      <p:pic>
        <p:nvPicPr>
          <p:cNvPr id="4" name="Marcador de contenido 7">
            <a:extLst>
              <a:ext uri="{FF2B5EF4-FFF2-40B4-BE49-F238E27FC236}">
                <a16:creationId xmlns:a16="http://schemas.microsoft.com/office/drawing/2014/main" id="{C45030F1-9215-9010-211B-FF4287E76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484" y="2249488"/>
            <a:ext cx="6487858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554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B769BC-3F69-D5FA-75EA-620AE8BD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19075"/>
            <a:ext cx="9905998" cy="1478570"/>
          </a:xfrm>
        </p:spPr>
        <p:txBody>
          <a:bodyPr/>
          <a:lstStyle/>
          <a:p>
            <a:r>
              <a:rPr lang="es-AR" dirty="0"/>
              <a:t>INTERFAZ GRÁFICA CREADA CON PYQT5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9EE5FD8-63C4-BB5A-23BB-03197E52F1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19"/>
          <a:stretch/>
        </p:blipFill>
        <p:spPr>
          <a:xfrm>
            <a:off x="1462417" y="1579033"/>
            <a:ext cx="9267165" cy="489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979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B769BC-3F69-D5FA-75EA-620AE8BD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19075"/>
            <a:ext cx="9905998" cy="1478570"/>
          </a:xfrm>
        </p:spPr>
        <p:txBody>
          <a:bodyPr/>
          <a:lstStyle/>
          <a:p>
            <a:r>
              <a:rPr lang="es-AR" dirty="0"/>
              <a:t>Editor de nombres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923C4B1-B512-1444-FCFB-E36DF22E1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82"/>
          <a:stretch/>
        </p:blipFill>
        <p:spPr>
          <a:xfrm>
            <a:off x="1462418" y="1568449"/>
            <a:ext cx="9267164" cy="489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435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B769BC-3F69-D5FA-75EA-620AE8BD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19075"/>
            <a:ext cx="9905998" cy="1478570"/>
          </a:xfrm>
        </p:spPr>
        <p:txBody>
          <a:bodyPr>
            <a:normAutofit/>
          </a:bodyPr>
          <a:lstStyle/>
          <a:p>
            <a:r>
              <a:rPr lang="es-AR" dirty="0"/>
              <a:t>MODO FÚTBOL, GLOBAL IDA Y VUELTA, TARJETAS ROJAS, TIEMPO AÑADIDO, NOMBRES CAMBIADOS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06A93B0-D37F-A6B3-3217-86678EF58B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82"/>
          <a:stretch/>
        </p:blipFill>
        <p:spPr>
          <a:xfrm>
            <a:off x="1638300" y="1837267"/>
            <a:ext cx="8915400" cy="470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005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B769BC-3F69-D5FA-75EA-620AE8BD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19075"/>
            <a:ext cx="9905998" cy="1478570"/>
          </a:xfrm>
        </p:spPr>
        <p:txBody>
          <a:bodyPr>
            <a:normAutofit/>
          </a:bodyPr>
          <a:lstStyle/>
          <a:p>
            <a:r>
              <a:rPr lang="es-AR" dirty="0"/>
              <a:t>PENALES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0ABE765-44A1-FF57-4BE5-466C52204E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11"/>
          <a:stretch/>
        </p:blipFill>
        <p:spPr>
          <a:xfrm>
            <a:off x="1857676" y="1697645"/>
            <a:ext cx="8476648" cy="447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957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A33C3-A616-0C52-3D8A-2C00B9281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Tecnologías implementadas</a:t>
            </a:r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6BBBF027-8C13-9C8E-AB38-CAF44AB2F66A}"/>
              </a:ext>
            </a:extLst>
          </p:cNvPr>
          <p:cNvSpPr txBox="1">
            <a:spLocks/>
          </p:cNvSpPr>
          <p:nvPr/>
        </p:nvSpPr>
        <p:spPr>
          <a:xfrm>
            <a:off x="1981199" y="2392363"/>
            <a:ext cx="8791575" cy="33154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s-AR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Raspberry Pi 4 de 1GB de RAM</a:t>
            </a:r>
          </a:p>
          <a:p>
            <a:pPr marL="342900" indent="-342900"/>
            <a:r>
              <a:rPr lang="es-AR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Interfaz gráfica creada con PyQt5.</a:t>
            </a:r>
          </a:p>
          <a:p>
            <a:pPr marL="342900" indent="-342900"/>
            <a:r>
              <a:rPr lang="es-AR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Teclado matricial de 16 botones conectado por GPIO.</a:t>
            </a:r>
          </a:p>
          <a:p>
            <a:pPr marL="342900" indent="-342900"/>
            <a:r>
              <a:rPr lang="es-AR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Hilos y señales.</a:t>
            </a:r>
          </a:p>
          <a:p>
            <a:pPr marL="342900" indent="-342900"/>
            <a:r>
              <a:rPr lang="es-AR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Iniciar programa automáticamente al encender la Raspberry.</a:t>
            </a:r>
          </a:p>
          <a:p>
            <a:pPr marL="342900" indent="-342900"/>
            <a:r>
              <a:rPr lang="es-AR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Guardar estado en memoria no volátil.</a:t>
            </a:r>
          </a:p>
        </p:txBody>
      </p:sp>
    </p:spTree>
    <p:extLst>
      <p:ext uri="{BB962C8B-B14F-4D97-AF65-F5344CB8AC3E}">
        <p14:creationId xmlns:p14="http://schemas.microsoft.com/office/powerpoint/2010/main" val="2192774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A33C3-A616-0C52-3D8A-2C00B9281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Virtual </a:t>
            </a:r>
            <a:r>
              <a:rPr lang="es-AR" dirty="0" err="1"/>
              <a:t>network</a:t>
            </a:r>
            <a:r>
              <a:rPr lang="es-AR" dirty="0"/>
              <a:t> </a:t>
            </a:r>
            <a:r>
              <a:rPr lang="es-AR" dirty="0" err="1"/>
              <a:t>computing</a:t>
            </a:r>
            <a:r>
              <a:rPr lang="es-AR" dirty="0"/>
              <a:t> (</a:t>
            </a:r>
            <a:r>
              <a:rPr lang="es-AR" dirty="0" err="1"/>
              <a:t>vnc</a:t>
            </a:r>
            <a:r>
              <a:rPr lang="es-AR" dirty="0"/>
              <a:t>)	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4354A9-D8B5-2219-7B3E-F3FB046BC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Software de PC que permite controlar remotamente la Raspberry Pi sin conectarle periféricos, es decir que el teclado, mouse y monitor de la PC se utilizan para controlar el sistema operativo de la Raspberry. </a:t>
            </a:r>
          </a:p>
          <a:p>
            <a:pPr marL="0" indent="0">
              <a:buNone/>
            </a:pPr>
            <a:r>
              <a:rPr lang="es-AR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El único requisito es que la Raspberry esté conectada a internet.</a:t>
            </a:r>
          </a:p>
          <a:p>
            <a:pPr marL="0" indent="0">
              <a:buNone/>
            </a:pPr>
            <a:r>
              <a:rPr lang="es-AR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En mi caso al instalar el SO de la Raspberry, configuré para que se conecte a mi </a:t>
            </a:r>
            <a:r>
              <a:rPr lang="es-AR" dirty="0" err="1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Wi</a:t>
            </a:r>
            <a:r>
              <a:rPr lang="es-AR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-Fi automáticamente al encenderse, así que no se necesita cable ethernet.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99FCF7F-C994-6F41-8F59-D6F673B4B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0312" y="0"/>
            <a:ext cx="2781688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049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C862ACB-036D-7295-15DB-CF4B735DCC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9" r="359"/>
          <a:stretch/>
        </p:blipFill>
        <p:spPr>
          <a:xfrm>
            <a:off x="1771649" y="0"/>
            <a:ext cx="86487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015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8A73F-D33E-CEE7-7EE1-D0547C404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807429"/>
            <a:ext cx="9905998" cy="1478570"/>
          </a:xfrm>
        </p:spPr>
        <p:txBody>
          <a:bodyPr/>
          <a:lstStyle/>
          <a:p>
            <a:r>
              <a:rPr lang="es-AR" dirty="0"/>
              <a:t>Teclado matricial 4x4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331DD3-6F16-6867-B0FB-D76E17DDC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371725"/>
            <a:ext cx="8278813" cy="3541714"/>
          </a:xfrm>
        </p:spPr>
        <p:txBody>
          <a:bodyPr>
            <a:normAutofit/>
          </a:bodyPr>
          <a:lstStyle/>
          <a:p>
            <a:r>
              <a:rPr lang="es-AR" sz="23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Ventaja: utiliza 8 pines digitales GPIO en vez de 17.</a:t>
            </a:r>
          </a:p>
          <a:p>
            <a:r>
              <a:rPr lang="es-AR" sz="23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Desventaja: no pueden pulsarse simultáneamente 2 botones.</a:t>
            </a:r>
          </a:p>
          <a:p>
            <a:r>
              <a:rPr lang="es-AR" sz="23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Funcionamiento: Escaneo matricial. Las filas son entradas digitales y las columnas son salidas. Para detectar cuál tecla se presionó, hay que activar una columna a la vez y leer las filas: si la fila pasa a nivel bajo, en esa fila con esa columna está el botón presionado.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A53B9F2-30AC-69F1-85BF-EABB6E7E36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69" r="3151" b="6168"/>
          <a:stretch/>
        </p:blipFill>
        <p:spPr>
          <a:xfrm>
            <a:off x="8972469" y="0"/>
            <a:ext cx="3219531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13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E0F345-91E9-0B51-C93B-455D0972C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3609975"/>
            <a:ext cx="9905999" cy="2905126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s-AR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Se activa la columna poniendo el pin en LOW.</a:t>
            </a:r>
          </a:p>
          <a:p>
            <a:pPr marL="457200" indent="-457200">
              <a:buFont typeface="+mj-lt"/>
              <a:buAutoNum type="arabicPeriod"/>
            </a:pPr>
            <a:r>
              <a:rPr lang="es-AR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Se leen las 4 filas, si alguna está en LOW es porque se presionó la tecla en esa fila y columna.</a:t>
            </a:r>
          </a:p>
          <a:p>
            <a:pPr marL="457200" indent="-457200">
              <a:buFont typeface="+mj-lt"/>
              <a:buAutoNum type="arabicPeriod"/>
            </a:pPr>
            <a:r>
              <a:rPr lang="es-AR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Mediante una señal se envía la información de la tecla presionada.</a:t>
            </a:r>
          </a:p>
          <a:p>
            <a:pPr marL="457200" indent="-457200">
              <a:buFont typeface="+mj-lt"/>
              <a:buAutoNum type="arabicPeriod"/>
            </a:pPr>
            <a:r>
              <a:rPr lang="es-AR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Se espera a que se suelte con un </a:t>
            </a:r>
            <a:r>
              <a:rPr lang="es-AR" dirty="0" err="1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debounce</a:t>
            </a:r>
            <a:r>
              <a:rPr lang="es-AR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por software (SLEEP).</a:t>
            </a:r>
          </a:p>
          <a:p>
            <a:pPr marL="457200" indent="-457200">
              <a:buFont typeface="+mj-lt"/>
              <a:buAutoNum type="arabicPeriod"/>
            </a:pPr>
            <a:r>
              <a:rPr lang="es-AR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Se pasa a otra columna y se repite el ciclo infinitamente.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862FF0B-394C-1A2B-C4FF-616A8201E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567" y="770918"/>
            <a:ext cx="5841688" cy="265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164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7F4DB7-0855-9A45-0053-F7A5F8CD8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112" y="811211"/>
            <a:ext cx="10012363" cy="3985330"/>
          </a:xfrm>
        </p:spPr>
        <p:txBody>
          <a:bodyPr>
            <a:normAutofit fontScale="92500" lnSpcReduction="10000"/>
          </a:bodyPr>
          <a:lstStyle/>
          <a:p>
            <a:r>
              <a:rPr lang="es-AR" sz="20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En mi código utilizo un sistema de múltiples hilos que permiten controlar diferentes aspectos en paralelo simultáneamente: uno para escanear el teclado ininterrumpidamente y otro para dibujar y actualizar una interfaz gráfica, lo cual evita que se congele la interfaz.</a:t>
            </a:r>
          </a:p>
          <a:p>
            <a:r>
              <a:rPr lang="es-AR" sz="20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La lectura contiene un </a:t>
            </a:r>
            <a:r>
              <a:rPr lang="es-AR" sz="2000" dirty="0" err="1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sleep</a:t>
            </a:r>
            <a:r>
              <a:rPr lang="es-AR" sz="20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para implementar el </a:t>
            </a:r>
            <a:r>
              <a:rPr lang="es-AR" sz="2000" dirty="0" err="1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antirrebote</a:t>
            </a:r>
            <a:r>
              <a:rPr lang="es-AR" sz="20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(evitar leer múltiples pulsadas del mismo botón). Esto es un lazo bloqueante, por eso deben utilizarse 2 hilos.</a:t>
            </a:r>
          </a:p>
          <a:p>
            <a:r>
              <a:rPr lang="es-ES" sz="20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No es posible modificar la interfaz gráfica desde otro hilo, entonces el hilo del teclado detecta la tecla y le manda un mensaje al hilo de la GUI usando un </a:t>
            </a:r>
            <a:r>
              <a:rPr lang="es-ES" sz="2000" dirty="0" err="1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Qsignal</a:t>
            </a:r>
            <a:r>
              <a:rPr lang="es-ES" sz="20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: </a:t>
            </a:r>
            <a:r>
              <a:rPr lang="en-US" sz="2000" dirty="0" err="1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self.signal_boton.emit</a:t>
            </a:r>
            <a:r>
              <a:rPr lang="en-US" sz="20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</a:t>
            </a:r>
            <a:r>
              <a:rPr lang="en-US" sz="2000" dirty="0" err="1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tecla</a:t>
            </a:r>
            <a:r>
              <a:rPr lang="en-US" sz="20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)</a:t>
            </a:r>
            <a:endParaRPr lang="es-ES" sz="2000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r>
              <a:rPr kumimoji="0" lang="es-AR" altLang="es-A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Cada vez que el hilo del teclado emita   </a:t>
            </a:r>
            <a:r>
              <a:rPr kumimoji="0" lang="es-AR" altLang="es-A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signal_boton</a:t>
            </a:r>
            <a:r>
              <a:rPr kumimoji="0" lang="es-AR" altLang="es-A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(tecla),   llama a </a:t>
            </a:r>
            <a:r>
              <a:rPr kumimoji="0" lang="es-AR" altLang="es-A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procesar_boton</a:t>
            </a:r>
            <a:r>
              <a:rPr kumimoji="0" lang="es-AR" altLang="es-A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(tecla) en el hilo principal de PyQt5. La función  </a:t>
            </a:r>
            <a:r>
              <a:rPr kumimoji="0" lang="en-US" altLang="es-A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self.procesar_boton</a:t>
            </a:r>
            <a:r>
              <a:rPr kumimoji="0" lang="en-US" altLang="es-A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() es la que decide </a:t>
            </a:r>
            <a:r>
              <a:rPr kumimoji="0" lang="en-US" altLang="es-A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qué</a:t>
            </a:r>
            <a:r>
              <a:rPr kumimoji="0" lang="en-US" altLang="es-A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  <a:r>
              <a:rPr kumimoji="0" lang="en-US" altLang="es-A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hacer</a:t>
            </a:r>
            <a:r>
              <a:rPr kumimoji="0" lang="en-US" altLang="es-A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al </a:t>
            </a:r>
            <a:r>
              <a:rPr kumimoji="0" lang="en-US" altLang="es-A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presionar</a:t>
            </a:r>
            <a:r>
              <a:rPr kumimoji="0" lang="en-US" altLang="es-A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  <a:r>
              <a:rPr kumimoji="0" lang="en-US" altLang="es-A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cada</a:t>
            </a:r>
            <a:r>
              <a:rPr kumimoji="0" lang="en-US" altLang="es-A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  <a:r>
              <a:rPr kumimoji="0" lang="en-US" altLang="es-A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tecla</a:t>
            </a:r>
            <a:r>
              <a:rPr kumimoji="0" lang="en-US" altLang="es-A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.</a:t>
            </a:r>
            <a:endParaRPr lang="es-AR" sz="2000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3295980-9275-0CF0-E11D-137041ED3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113" y="-286357"/>
            <a:ext cx="9905998" cy="1478570"/>
          </a:xfrm>
        </p:spPr>
        <p:txBody>
          <a:bodyPr/>
          <a:lstStyle/>
          <a:p>
            <a:r>
              <a:rPr lang="es-AR" dirty="0"/>
              <a:t>Hilos y señales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D225030-EF7F-C777-7BEC-64350910BB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38" b="-1"/>
          <a:stretch/>
        </p:blipFill>
        <p:spPr>
          <a:xfrm>
            <a:off x="3713162" y="5030970"/>
            <a:ext cx="6695504" cy="64633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C456E4CE-312B-DACC-19AF-C0521D4608CE}"/>
              </a:ext>
            </a:extLst>
          </p:cNvPr>
          <p:cNvSpPr txBox="1"/>
          <p:nvPr/>
        </p:nvSpPr>
        <p:spPr>
          <a:xfrm>
            <a:off x="1419795" y="5020880"/>
            <a:ext cx="1971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Configuración del hilo del teclado: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3020116-2CC2-2B29-1118-DC29182E8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637" y="5911731"/>
            <a:ext cx="2995862" cy="774930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7F3409FF-C91C-9173-144A-32DDE02EAD1D}"/>
              </a:ext>
            </a:extLst>
          </p:cNvPr>
          <p:cNvSpPr txBox="1"/>
          <p:nvPr/>
        </p:nvSpPr>
        <p:spPr>
          <a:xfrm>
            <a:off x="1419795" y="5828873"/>
            <a:ext cx="2171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Configuración del hilo de la GUI:       (se encarga PyQt5)</a:t>
            </a:r>
          </a:p>
        </p:txBody>
      </p:sp>
    </p:spTree>
    <p:extLst>
      <p:ext uri="{BB962C8B-B14F-4D97-AF65-F5344CB8AC3E}">
        <p14:creationId xmlns:p14="http://schemas.microsoft.com/office/powerpoint/2010/main" val="2734521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45C4C-FEEB-8E0C-1C9F-C2137499F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Multitarea cooperativa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7E6A06-62CA-1011-DB29-2C838E742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10021888" cy="3541714"/>
          </a:xfrm>
        </p:spPr>
        <p:txBody>
          <a:bodyPr>
            <a:normAutofit fontScale="92500"/>
          </a:bodyPr>
          <a:lstStyle/>
          <a:p>
            <a:r>
              <a:rPr lang="es-AR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El programa en Python corre sobre Linux, un sistema operativo que soporta multitarea cooperativa multihilos (aunque no es un RTOS: no hay tiempos garantizados, ni prioridades, ni interrupciones).</a:t>
            </a:r>
          </a:p>
          <a:p>
            <a:r>
              <a:rPr lang="es-ES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Solo un hilo de Python ejecuta código a la vez. El Global </a:t>
            </a:r>
            <a:r>
              <a:rPr lang="es-ES" dirty="0" err="1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Interpreter</a:t>
            </a:r>
            <a:r>
              <a:rPr lang="es-ES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  <a:r>
              <a:rPr lang="es-ES" dirty="0" err="1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Lock</a:t>
            </a:r>
            <a:r>
              <a:rPr lang="es-ES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se encarga de ejecutar unas instrucciones de un hilo, luego saltar al otro hilo para ejecutar otras instrucciones, y así sucesivamente va y viene.</a:t>
            </a:r>
          </a:p>
          <a:p>
            <a:r>
              <a:rPr lang="es-ES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Un hilo puede suspenderse para que otro se ejecute sin perder su contexto.</a:t>
            </a:r>
            <a:endParaRPr lang="es-AR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653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A4391-BF66-DF63-81B6-399CDAF4F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923317"/>
            <a:ext cx="9905998" cy="1478570"/>
          </a:xfrm>
        </p:spPr>
        <p:txBody>
          <a:bodyPr/>
          <a:lstStyle/>
          <a:p>
            <a:r>
              <a:rPr lang="es-AR" dirty="0"/>
              <a:t>Iniciar programa automáticamente al encender la </a:t>
            </a:r>
            <a:r>
              <a:rPr lang="es-AR" dirty="0" err="1"/>
              <a:t>raspberry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BA2C8A-13A0-CE52-D62E-E00DE5655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310704"/>
            <a:ext cx="9905999" cy="3541714"/>
          </a:xfrm>
        </p:spPr>
        <p:txBody>
          <a:bodyPr/>
          <a:lstStyle/>
          <a:p>
            <a:r>
              <a:rPr lang="es-AR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En el directorio  “/home/ariel/.</a:t>
            </a:r>
            <a:r>
              <a:rPr lang="es-AR" dirty="0" err="1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config</a:t>
            </a:r>
            <a:r>
              <a:rPr lang="es-AR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/</a:t>
            </a:r>
            <a:r>
              <a:rPr lang="es-AR" dirty="0" err="1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autostart</a:t>
            </a:r>
            <a:r>
              <a:rPr lang="es-AR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”  creé el archivo </a:t>
            </a:r>
            <a:r>
              <a:rPr lang="es-AR" dirty="0" err="1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handball.desktop</a:t>
            </a:r>
            <a:r>
              <a:rPr lang="es-AR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con el siguiente contenido:</a:t>
            </a:r>
          </a:p>
          <a:p>
            <a:endParaRPr lang="es-AR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endParaRPr lang="es-AR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endParaRPr lang="es-AR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r>
              <a:rPr lang="es-AR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Por única vez se otorga permiso de ejecución en la consola:</a:t>
            </a:r>
          </a:p>
          <a:p>
            <a:endParaRPr lang="es-AR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endParaRPr lang="es-AR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48E6C3F-3BD5-922B-58AA-B66E0673D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872" y="3371849"/>
            <a:ext cx="8078327" cy="141942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DBD6C47-9731-D49C-704C-B1D997EBDE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463" b="-1"/>
          <a:stretch/>
        </p:blipFill>
        <p:spPr>
          <a:xfrm>
            <a:off x="1444872" y="5588000"/>
            <a:ext cx="6401693" cy="264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665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DC152E-F179-E0CA-23E2-E72916459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Guardar estado en memoria no volátil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87B057-BFA3-E7FB-9EF9-D19CB404B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06587"/>
            <a:ext cx="9612313" cy="4675188"/>
          </a:xfrm>
        </p:spPr>
        <p:txBody>
          <a:bodyPr>
            <a:noAutofit/>
          </a:bodyPr>
          <a:lstStyle/>
          <a:p>
            <a:r>
              <a:rPr lang="es-AR" sz="22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Llamar a la función   </a:t>
            </a:r>
            <a:r>
              <a:rPr lang="es-AR" sz="2200" dirty="0" err="1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self.guardar_estado</a:t>
            </a:r>
            <a:r>
              <a:rPr lang="es-AR" sz="22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()   guarda en un archivo </a:t>
            </a:r>
            <a:r>
              <a:rPr lang="es-AR" sz="2200" dirty="0" err="1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estado_tablero.json</a:t>
            </a:r>
            <a:r>
              <a:rPr lang="es-AR" sz="22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(ubicado en la memoria SD conectado a la Raspberry)         una cadena de caracteres con los nombres de los atributos y su valor.</a:t>
            </a:r>
          </a:p>
          <a:p>
            <a:r>
              <a:rPr lang="es-AR" sz="22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 iniciar el programa se llama a la función  </a:t>
            </a:r>
            <a:r>
              <a:rPr lang="es-AR" sz="2200" dirty="0" err="1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self.cargar_estado</a:t>
            </a:r>
            <a:r>
              <a:rPr lang="es-AR" sz="22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()  la cual </a:t>
            </a:r>
            <a:r>
              <a:rPr lang="es-AR" sz="2200" dirty="0" err="1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sobreescribe</a:t>
            </a:r>
            <a:r>
              <a:rPr lang="es-AR" sz="22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las variables del programa con los valores guardados en el archivo.</a:t>
            </a:r>
          </a:p>
          <a:p>
            <a:r>
              <a:rPr lang="es-AR" sz="22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Limitaciones: </a:t>
            </a:r>
            <a:r>
              <a:rPr lang="es-AR" sz="2200" dirty="0" err="1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sobreescribir</a:t>
            </a:r>
            <a:r>
              <a:rPr lang="es-AR" sz="22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un archivo repetidas veces puede dañar la memoria, por eso solo se llama a esa función al cambiar los goles y a cada minuto transcurrido, en vez de guardar cada segundo. Para no dañar la tarjeta SD insertada en la Raspberry, lo mejor sería guardar el archivo en un pendrive o SSD externo conectado vía USB.</a:t>
            </a:r>
          </a:p>
        </p:txBody>
      </p:sp>
    </p:spTree>
    <p:extLst>
      <p:ext uri="{BB962C8B-B14F-4D97-AF65-F5344CB8AC3E}">
        <p14:creationId xmlns:p14="http://schemas.microsoft.com/office/powerpoint/2010/main" val="1242864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DC152E-F179-E0CA-23E2-E72916459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Mejoras a futuro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87B057-BFA3-E7FB-9EF9-D19CB404B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06587"/>
            <a:ext cx="9612313" cy="4675188"/>
          </a:xfrm>
        </p:spPr>
        <p:txBody>
          <a:bodyPr>
            <a:noAutofit/>
          </a:bodyPr>
          <a:lstStyle/>
          <a:p>
            <a:r>
              <a:rPr lang="es-AR" sz="22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Implementar </a:t>
            </a:r>
            <a:r>
              <a:rPr lang="es-AR" sz="2200" dirty="0" err="1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display</a:t>
            </a:r>
            <a:r>
              <a:rPr lang="es-AR" sz="22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: mostraría más información en una pantalla más chica (no mostrar el menú en el televisor HDMI).</a:t>
            </a:r>
          </a:p>
          <a:p>
            <a:pPr marL="0" indent="0">
              <a:buNone/>
            </a:pPr>
            <a:endParaRPr lang="es-AR" sz="2200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r>
              <a:rPr lang="es-AR" sz="22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Agregar deportes: </a:t>
            </a:r>
            <a:r>
              <a:rPr lang="es-AR" sz="2200" dirty="0" err="1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voley</a:t>
            </a:r>
            <a:r>
              <a:rPr lang="es-AR" sz="22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, </a:t>
            </a:r>
            <a:r>
              <a:rPr lang="es-AR" sz="2200" dirty="0" err="1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basket</a:t>
            </a:r>
            <a:r>
              <a:rPr lang="es-AR" sz="22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, tenis. Diseño modular que permita agregar más botones.</a:t>
            </a:r>
          </a:p>
          <a:p>
            <a:endParaRPr lang="es-AR" sz="2200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229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DC152E-F179-E0CA-23E2-E72916459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330787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s-AR" sz="6000" dirty="0"/>
              <a:t>gracias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542402B5-FC4D-0E68-7CA6-0AC2B4CFB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3830855"/>
            <a:ext cx="9905999" cy="1960346"/>
          </a:xfrm>
        </p:spPr>
        <p:txBody>
          <a:bodyPr/>
          <a:lstStyle/>
          <a:p>
            <a:pPr marL="0" indent="0" algn="ctr">
              <a:buNone/>
            </a:pPr>
            <a:r>
              <a:rPr lang="es-AR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¿Alguna pregunta?</a:t>
            </a:r>
          </a:p>
        </p:txBody>
      </p:sp>
    </p:spTree>
    <p:extLst>
      <p:ext uri="{BB962C8B-B14F-4D97-AF65-F5344CB8AC3E}">
        <p14:creationId xmlns:p14="http://schemas.microsoft.com/office/powerpoint/2010/main" val="22922081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247</TotalTime>
  <Words>817</Words>
  <Application>Microsoft Office PowerPoint</Application>
  <PresentationFormat>Panorámica</PresentationFormat>
  <Paragraphs>52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Ebrima</vt:lpstr>
      <vt:lpstr>Tw Cen MT</vt:lpstr>
      <vt:lpstr>Circuito</vt:lpstr>
      <vt:lpstr>tablero multideportes</vt:lpstr>
      <vt:lpstr>INTERFAZ GRÁFICA CREADA CON PYQT5</vt:lpstr>
      <vt:lpstr>Editor de nombres</vt:lpstr>
      <vt:lpstr>MODO FÚTBOL, GLOBAL IDA Y VUELTA, TARJETAS ROJAS, TIEMPO AÑADIDO, NOMBRES CAMBIADOS</vt:lpstr>
      <vt:lpstr>PENALES</vt:lpstr>
      <vt:lpstr>Tecnologías implementadas</vt:lpstr>
      <vt:lpstr>Virtual network computing (vnc) </vt:lpstr>
      <vt:lpstr>Presentación de PowerPoint</vt:lpstr>
      <vt:lpstr>Teclado matricial 4x4</vt:lpstr>
      <vt:lpstr>Presentación de PowerPoint</vt:lpstr>
      <vt:lpstr>Hilos y señales</vt:lpstr>
      <vt:lpstr>Multitarea cooperativa</vt:lpstr>
      <vt:lpstr>Iniciar programa automáticamente al encender la raspberry</vt:lpstr>
      <vt:lpstr>Guardar estado en memoria no volátil</vt:lpstr>
      <vt:lpstr>Mejoras a futuro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Tecnologías implementadas en proyecto  “tablero multideportes”</dc:title>
  <dc:creator>Ariel Malvaso</dc:creator>
  <cp:lastModifiedBy>Ariel Malvaso</cp:lastModifiedBy>
  <cp:revision>19</cp:revision>
  <dcterms:created xsi:type="dcterms:W3CDTF">2025-11-16T15:54:49Z</dcterms:created>
  <dcterms:modified xsi:type="dcterms:W3CDTF">2025-12-13T03:41:06Z</dcterms:modified>
</cp:coreProperties>
</file>